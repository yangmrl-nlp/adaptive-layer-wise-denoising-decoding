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4" r:id="rId1"/>
  </p:sldMasterIdLst>
  <p:notesMasterIdLst>
    <p:notesMasterId r:id="rId3"/>
  </p:notesMasterIdLst>
  <p:sldIdLst>
    <p:sldId id="256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EA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18"/>
    <p:restoredTop sz="96271"/>
  </p:normalViewPr>
  <p:slideViewPr>
    <p:cSldViewPr snapToGrid="0">
      <p:cViewPr>
        <p:scale>
          <a:sx n="53" d="100"/>
          <a:sy n="53" d="100"/>
        </p:scale>
        <p:origin x="1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A7A53-09CA-D543-9509-1146FA80EB43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CA315-334D-114B-A5A7-CB64C7DB0B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757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1pPr>
    <a:lvl2pPr marL="274233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2pPr>
    <a:lvl3pPr marL="548469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3pPr>
    <a:lvl4pPr marL="822702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4pPr>
    <a:lvl5pPr marL="1096936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5pPr>
    <a:lvl6pPr marL="1371170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6pPr>
    <a:lvl7pPr marL="1645405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7pPr>
    <a:lvl8pPr marL="1919639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8pPr>
    <a:lvl9pPr marL="2193872" algn="l" defTabSz="548469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CA315-334D-114B-A5A7-CB64C7DB0B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609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745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338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452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057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159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691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012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097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210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400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432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3419D-772D-1747-9855-D4F6BA64373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60517-CFB6-D240-8552-59ADFB2D19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941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EDC3C8E5-8105-A18F-77AF-F10A22E0D297}"/>
              </a:ext>
            </a:extLst>
          </p:cNvPr>
          <p:cNvSpPr/>
          <p:nvPr/>
        </p:nvSpPr>
        <p:spPr>
          <a:xfrm>
            <a:off x="305704" y="251749"/>
            <a:ext cx="17473476" cy="17519364"/>
          </a:xfrm>
          <a:prstGeom prst="roundRect">
            <a:avLst>
              <a:gd name="adj" fmla="val 421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2627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692C51-D84B-8305-7865-1744694DBDD7}"/>
              </a:ext>
            </a:extLst>
          </p:cNvPr>
          <p:cNvSpPr txBox="1"/>
          <p:nvPr/>
        </p:nvSpPr>
        <p:spPr>
          <a:xfrm>
            <a:off x="432650" y="3198629"/>
            <a:ext cx="10088223" cy="78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Thinking </a:t>
            </a:r>
            <a:endParaRPr kumimoji="1" lang="zh-CN" altLang="en-US" sz="4500" b="1" dirty="0">
              <a:solidFill>
                <a:schemeClr val="tx2">
                  <a:lumMod val="75000"/>
                  <a:lumOff val="2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B88D4A-3862-356C-B31C-4E2A9801E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01" y="3794796"/>
            <a:ext cx="17387829" cy="106183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28630" tIns="114317" rIns="228630" bIns="11431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defTabSz="2286858"/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Of course! Crafting the perfect emotional delivery requires a deep understanding of how pitch, energy, and timbre coalesce to create a specific feeling. For an angry tone, </a:t>
            </a:r>
            <a:r>
              <a:rPr lang="en-US" altLang="zh-CN" sz="4000" dirty="0">
                <a:latin typeface="Comic Sans MS" panose="030F0902030302020204" pitchFamily="66" charset="0"/>
                <a:ea typeface="Vollkorn"/>
              </a:rPr>
              <a:t>…..</a:t>
            </a:r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To capture this, I've broken the sentence into two distinct prosodic events.</a:t>
            </a:r>
            <a:endParaRPr lang="zh-CN" altLang="zh-CN" sz="1500" b="1" dirty="0">
              <a:latin typeface="Comic Sans MS" panose="030F0902030302020204" pitchFamily="66" charset="0"/>
            </a:endParaRPr>
          </a:p>
          <a:p>
            <a:pPr algn="just" defTabSz="2286858">
              <a:buFontTx/>
              <a:buAutoNum type="arabicPeriod"/>
            </a:pPr>
            <a:r>
              <a:rPr lang="zh-CN" altLang="zh-CN" sz="3500" b="1" dirty="0">
                <a:latin typeface="Comic Sans MS" panose="030F0902030302020204" pitchFamily="66" charset="0"/>
                <a:ea typeface="Vollkorn"/>
              </a:rPr>
              <a:t>”</a:t>
            </a:r>
            <a:r>
              <a:rPr lang="en-US" altLang="zh-CN" sz="3500" b="1" dirty="0">
                <a:latin typeface="Comic Sans MS" panose="030F0902030302020204" pitchFamily="66" charset="0"/>
                <a:ea typeface="Vollkorn"/>
              </a:rPr>
              <a:t>I</a:t>
            </a:r>
            <a:r>
              <a:rPr lang="zh-CN" altLang="zh-CN" sz="3500" b="1" dirty="0">
                <a:latin typeface="Comic Sans MS" panose="030F0902030302020204" pitchFamily="66" charset="0"/>
                <a:ea typeface="Vollkorn"/>
              </a:rPr>
              <a:t> feel so selfish": </a:t>
            </a:r>
            <a:r>
              <a:rPr lang="zh-C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This first segment will embody the rising frustration. We'll see a dramatic surge in pitch and energy, reflecting a sharp increase in agitation. </a:t>
            </a:r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The vocal quality will become tense and bright, as if the speaker is straining against their own feelings.</a:t>
            </a:r>
            <a:endParaRPr lang="zh-CN" altLang="zh-CN" sz="3500" b="1" dirty="0">
              <a:latin typeface="Comic Sans MS" panose="030F0902030302020204" pitchFamily="66" charset="0"/>
              <a:ea typeface="Vollkorn"/>
            </a:endParaRPr>
          </a:p>
          <a:p>
            <a:pPr algn="just" defTabSz="2286858">
              <a:buFontTx/>
              <a:buAutoNum type="arabicPeriod" startAt="2"/>
            </a:pPr>
            <a:r>
              <a:rPr lang="zh-CN" altLang="zh-CN" sz="3500" b="1" dirty="0">
                <a:latin typeface="Comic Sans MS" panose="030F0902030302020204" pitchFamily="66" charset="0"/>
                <a:ea typeface="Vollkorn"/>
              </a:rPr>
              <a:t>"but i know it has to be done": </a:t>
            </a:r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Here, the anger shifts to forceful determination. </a:t>
            </a:r>
            <a:r>
              <a:rPr lang="zh-C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The pitch remains high but begins a steep, decisive fall, signaling a final, non-negotiable conclusion. The energy will peak here, representing the forceful delivery of the phrase "has to be done," leaving no room for argument.</a:t>
            </a:r>
          </a:p>
          <a:p>
            <a:pPr algn="just" defTabSz="2286858"/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Below is the structured JSON representation of these features.</a:t>
            </a:r>
            <a:r>
              <a:rPr lang="zh-CN" altLang="zh-CN" sz="4000" dirty="0">
                <a:latin typeface="Comic Sans MS" panose="030F0902030302020204" pitchFamily="66" charset="0"/>
                <a:ea typeface="Vollkorn"/>
              </a:rPr>
              <a:t> </a:t>
            </a:r>
            <a:r>
              <a:rPr lang="en-US" altLang="zh-CN" sz="4000" dirty="0">
                <a:latin typeface="Comic Sans MS" panose="030F0902030302020204" pitchFamily="66" charset="0"/>
                <a:ea typeface="Vollkorn"/>
              </a:rPr>
              <a:t>….</a:t>
            </a:r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for an angry performance.</a:t>
            </a:r>
            <a:endParaRPr lang="en-US" altLang="zh-CN" sz="3500" dirty="0">
              <a:latin typeface="Comic Sans MS" panose="030F0902030302020204" pitchFamily="66" charset="0"/>
              <a:ea typeface="Vollkorn"/>
            </a:endParaRPr>
          </a:p>
          <a:p>
            <a:pPr algn="just" defTabSz="2286858"/>
            <a:r>
              <a:rPr lang="zh-CN" altLang="zh-CN" sz="3500" dirty="0">
                <a:latin typeface="Comic Sans MS" panose="030F0902030302020204" pitchFamily="66" charset="0"/>
                <a:ea typeface="Vollkorn"/>
              </a:rPr>
              <a:t>json</a:t>
            </a:r>
            <a:endParaRPr lang="zh-CN" altLang="zh-CN" sz="1500" dirty="0">
              <a:latin typeface="Comic Sans MS" panose="030F0902030302020204" pitchFamily="66" charset="0"/>
            </a:endParaRPr>
          </a:p>
          <a:p>
            <a:pPr algn="just" defTabSz="2286858"/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[{"word": ”I feel so selfish","</a:t>
            </a:r>
            <a:r>
              <a:rPr lang="en" altLang="zh-CN" sz="3500" dirty="0" err="1">
                <a:latin typeface="Comic Sans MS" panose="030F0902030302020204" pitchFamily="66" charset="0"/>
                <a:ea typeface="Vollkorn"/>
              </a:rPr>
              <a:t>pitch_mean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": 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50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,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"pitch_slope":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90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,</a:t>
            </a:r>
          </a:p>
          <a:p>
            <a:pPr algn="just" defTabSz="2286858"/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</a:t>
            </a:r>
            <a:r>
              <a:rPr lang="en" altLang="zh-CN" sz="3500" dirty="0" err="1">
                <a:latin typeface="Comic Sans MS" panose="030F0902030302020204" pitchFamily="66" charset="0"/>
                <a:ea typeface="Vollkorn"/>
              </a:rPr>
              <a:t>energy_rms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": 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0.0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9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5,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"energy_slope":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85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,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"spectral_centroid":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3200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},</a:t>
            </a:r>
          </a:p>
          <a:p>
            <a:pPr algn="just" defTabSz="2286858"/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{“word”: “but </a:t>
            </a:r>
            <a:r>
              <a:rPr lang="en" altLang="zh-CN" sz="3500" dirty="0" err="1">
                <a:latin typeface="Comic Sans MS" panose="030F0902030302020204" pitchFamily="66" charset="0"/>
                <a:ea typeface="Vollkorn"/>
              </a:rPr>
              <a:t>i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 know it has to be done”,“</a:t>
            </a:r>
            <a:r>
              <a:rPr lang="en" altLang="zh-CN" sz="3500" dirty="0" err="1">
                <a:latin typeface="Comic Sans MS" panose="030F0902030302020204" pitchFamily="66" charset="0"/>
                <a:ea typeface="Vollkorn"/>
              </a:rPr>
              <a:t>pitch_mean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”: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325</a:t>
            </a:r>
            <a:r>
              <a:rPr lang="zh-CN" altLang="en-US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，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</a:t>
            </a:r>
            <a:r>
              <a:rPr lang="en" altLang="zh-CN" sz="3500" dirty="0" err="1">
                <a:latin typeface="Comic Sans MS" panose="030F0902030302020204" pitchFamily="66" charset="0"/>
                <a:ea typeface="Vollkorn"/>
              </a:rPr>
              <a:t>pitch_slope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-75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,</a:t>
            </a:r>
          </a:p>
          <a:p>
            <a:pPr algn="just" defTabSz="2286858"/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"energy_rms": 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0.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110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,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"energy_slope":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20</a:t>
            </a:r>
            <a:r>
              <a:rPr lang="en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,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</a:t>
            </a:r>
            <a:r>
              <a:rPr lang="en" altLang="zh-CN" sz="3500" dirty="0" err="1">
                <a:latin typeface="Comic Sans MS" panose="030F0902030302020204" pitchFamily="66" charset="0"/>
                <a:ea typeface="Vollkorn"/>
              </a:rPr>
              <a:t>spectral_centroid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": </a:t>
            </a:r>
            <a:r>
              <a:rPr lang="en-US" altLang="zh-CN" sz="3500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3150</a:t>
            </a:r>
            <a:r>
              <a:rPr lang="en" altLang="zh-CN" sz="3500" dirty="0">
                <a:latin typeface="Comic Sans MS" panose="030F0902030302020204" pitchFamily="66" charset="0"/>
                <a:ea typeface="Vollkorn"/>
              </a:rPr>
              <a:t>}]</a:t>
            </a:r>
            <a:endParaRPr lang="zh-CN" altLang="zh-CN" sz="4505" dirty="0">
              <a:latin typeface="Comic Sans MS" panose="030F0902030302020204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3FE8B6-9B26-14D3-5ED7-5482DA6128D6}"/>
              </a:ext>
            </a:extLst>
          </p:cNvPr>
          <p:cNvSpPr txBox="1"/>
          <p:nvPr/>
        </p:nvSpPr>
        <p:spPr>
          <a:xfrm>
            <a:off x="441116" y="635207"/>
            <a:ext cx="5452249" cy="78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Emotion : </a:t>
            </a:r>
            <a:r>
              <a:rPr kumimoji="1" lang="en-US" altLang="zh-CN" sz="4500" b="1" dirty="0">
                <a:latin typeface="Comic Sans MS" panose="030F0902030302020204" pitchFamily="66" charset="0"/>
              </a:rPr>
              <a:t>angry</a:t>
            </a:r>
            <a:endParaRPr kumimoji="1" lang="zh-CN" altLang="en-US" sz="4500" b="1" dirty="0">
              <a:latin typeface="Comic Sans MS" panose="030F0902030302020204" pitchFamily="66" charset="0"/>
            </a:endParaRP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2DBF48DA-FCBD-C646-3EE2-1B57FAC2DA48}"/>
              </a:ext>
            </a:extLst>
          </p:cNvPr>
          <p:cNvCxnSpPr>
            <a:cxnSpLocks/>
          </p:cNvCxnSpPr>
          <p:nvPr/>
        </p:nvCxnSpPr>
        <p:spPr>
          <a:xfrm flipV="1">
            <a:off x="305697" y="3108064"/>
            <a:ext cx="17418524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8F23626-AC44-D7BC-7C4A-78C55B01E366}"/>
              </a:ext>
            </a:extLst>
          </p:cNvPr>
          <p:cNvSpPr txBox="1"/>
          <p:nvPr/>
        </p:nvSpPr>
        <p:spPr>
          <a:xfrm>
            <a:off x="310897" y="1649983"/>
            <a:ext cx="13354472" cy="148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Text of the speech</a:t>
            </a:r>
            <a:r>
              <a:rPr kumimoji="1" lang="zh-CN" altLang="en-US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 </a:t>
            </a:r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: </a:t>
            </a:r>
            <a:r>
              <a:rPr kumimoji="1" lang="en-US" altLang="zh-CN" sz="4500" b="1" dirty="0">
                <a:latin typeface="Comic Sans MS" panose="030F0902030302020204" pitchFamily="66" charset="0"/>
              </a:rPr>
              <a:t>I</a:t>
            </a:r>
            <a:r>
              <a:rPr lang="zh-CN" altLang="zh-CN" sz="4500" b="1" dirty="0">
                <a:latin typeface="Comic Sans MS" panose="030F0902030302020204" pitchFamily="66" charset="0"/>
                <a:ea typeface="Vollkorn"/>
              </a:rPr>
              <a:t> feel so </a:t>
            </a:r>
            <a:endParaRPr lang="en-US" altLang="zh-CN" sz="4500" b="1" dirty="0">
              <a:latin typeface="Comic Sans MS" panose="030F0902030302020204" pitchFamily="66" charset="0"/>
              <a:ea typeface="Vollkorn"/>
            </a:endParaRPr>
          </a:p>
          <a:p>
            <a:r>
              <a:rPr lang="zh-CN" altLang="zh-CN" sz="4500" b="1" dirty="0">
                <a:latin typeface="Comic Sans MS" panose="030F0902030302020204" pitchFamily="66" charset="0"/>
                <a:ea typeface="Vollkorn"/>
              </a:rPr>
              <a:t>selfish</a:t>
            </a:r>
            <a:r>
              <a:rPr lang="en-US" altLang="zh-CN" sz="4500" b="1" dirty="0">
                <a:latin typeface="Comic Sans MS" panose="030F0902030302020204" pitchFamily="66" charset="0"/>
                <a:ea typeface="Vollkorn"/>
              </a:rPr>
              <a:t> </a:t>
            </a:r>
            <a:r>
              <a:rPr lang="zh-CN" altLang="zh-CN" sz="4500" b="1" dirty="0">
                <a:latin typeface="Comic Sans MS" panose="030F0902030302020204" pitchFamily="66" charset="0"/>
                <a:ea typeface="Vollkorn"/>
              </a:rPr>
              <a:t>but i know it has to be done</a:t>
            </a:r>
            <a:endParaRPr kumimoji="1" lang="zh-CN" altLang="en-US" sz="4500" b="1" dirty="0">
              <a:latin typeface="Comic Sans MS" panose="030F0902030302020204" pitchFamily="66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2E3B6D9-5B8F-D34D-34D5-22B3560B4B3B}"/>
              </a:ext>
            </a:extLst>
          </p:cNvPr>
          <p:cNvSpPr txBox="1"/>
          <p:nvPr/>
        </p:nvSpPr>
        <p:spPr>
          <a:xfrm>
            <a:off x="10127741" y="1297391"/>
            <a:ext cx="7090403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defTabSz="2286858"/>
            <a:r>
              <a:rPr lang="en" altLang="zh-CN" sz="3500" b="1" dirty="0">
                <a:latin typeface="Comic Sans MS" panose="030F0902030302020204" pitchFamily="66" charset="0"/>
                <a:ea typeface="Vollkorn"/>
              </a:rPr>
              <a:t>Average Pitch: 226</a:t>
            </a:r>
          </a:p>
          <a:p>
            <a:pPr algn="just" defTabSz="2286858"/>
            <a:r>
              <a:rPr lang="en" altLang="zh-CN" sz="3500" b="1" dirty="0">
                <a:latin typeface="Comic Sans MS" panose="030F0902030302020204" pitchFamily="66" charset="0"/>
                <a:ea typeface="Vollkorn"/>
              </a:rPr>
              <a:t>Average Energy (RMS): </a:t>
            </a:r>
            <a:r>
              <a:rPr lang="en-US" altLang="zh-CN" sz="3500" b="1" dirty="0">
                <a:latin typeface="Comic Sans MS" panose="030F0902030302020204" pitchFamily="66" charset="0"/>
                <a:ea typeface="Vollkorn"/>
              </a:rPr>
              <a:t>0.008</a:t>
            </a:r>
            <a:endParaRPr lang="en" altLang="zh-CN" sz="3500" b="1" dirty="0">
              <a:latin typeface="Comic Sans MS" panose="030F0902030302020204" pitchFamily="66" charset="0"/>
              <a:ea typeface="Vollkorn"/>
            </a:endParaRPr>
          </a:p>
          <a:p>
            <a:pPr algn="just" defTabSz="2286858"/>
            <a:r>
              <a:rPr lang="en" altLang="zh-CN" sz="3500" b="1" dirty="0">
                <a:latin typeface="Comic Sans MS" panose="030F0902030302020204" pitchFamily="66" charset="0"/>
                <a:ea typeface="Vollkorn"/>
              </a:rPr>
              <a:t>Average Spectral Centroid: 1885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B339976-A362-6BFB-5E51-84C7330BD996}"/>
              </a:ext>
            </a:extLst>
          </p:cNvPr>
          <p:cNvSpPr txBox="1"/>
          <p:nvPr/>
        </p:nvSpPr>
        <p:spPr>
          <a:xfrm>
            <a:off x="10054550" y="373929"/>
            <a:ext cx="477887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Speaker Baseline</a:t>
            </a:r>
            <a:endParaRPr kumimoji="1" lang="zh-CN" altLang="en-US" sz="4500" b="1" dirty="0">
              <a:solidFill>
                <a:schemeClr val="tx2">
                  <a:lumMod val="75000"/>
                  <a:lumOff val="2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CB45BFA-5FB7-337F-F06F-DBE19E64BAA7}"/>
              </a:ext>
            </a:extLst>
          </p:cNvPr>
          <p:cNvSpPr txBox="1"/>
          <p:nvPr/>
        </p:nvSpPr>
        <p:spPr>
          <a:xfrm>
            <a:off x="427909" y="14296896"/>
            <a:ext cx="62693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Predicted Features</a:t>
            </a:r>
            <a:r>
              <a:rPr kumimoji="1" lang="zh-CN" altLang="en-US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 </a:t>
            </a:r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:</a:t>
            </a:r>
            <a:endParaRPr kumimoji="1" lang="zh-CN" altLang="en-US" sz="4500" b="1" dirty="0">
              <a:solidFill>
                <a:schemeClr val="tx2">
                  <a:lumMod val="75000"/>
                  <a:lumOff val="2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0431E09-833C-ADA8-AF69-CFA027FC3E66}"/>
              </a:ext>
            </a:extLst>
          </p:cNvPr>
          <p:cNvSpPr txBox="1"/>
          <p:nvPr/>
        </p:nvSpPr>
        <p:spPr>
          <a:xfrm>
            <a:off x="424231" y="15034713"/>
            <a:ext cx="915115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286858"/>
            <a:r>
              <a:rPr lang="en" altLang="zh-CN" sz="3500" b="1" dirty="0">
                <a:latin typeface="Comic Sans MS" panose="030F0902030302020204" pitchFamily="66" charset="0"/>
                <a:ea typeface="Vollkorn"/>
              </a:rPr>
              <a:t>Average Pitch: </a:t>
            </a:r>
            <a:r>
              <a:rPr lang="en" altLang="zh-CN" sz="3500" b="1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</a:t>
            </a:r>
            <a:r>
              <a:rPr lang="en-US" altLang="zh-CN" sz="3500" b="1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37.5 (+111.5)</a:t>
            </a:r>
            <a:endParaRPr lang="en" altLang="zh-CN" sz="3500" b="1" dirty="0">
              <a:solidFill>
                <a:srgbClr val="C00000"/>
              </a:solidFill>
              <a:latin typeface="Comic Sans MS" panose="030F0902030302020204" pitchFamily="66" charset="0"/>
              <a:ea typeface="Vollkorn"/>
            </a:endParaRPr>
          </a:p>
          <a:p>
            <a:pPr algn="just" defTabSz="2286858"/>
            <a:r>
              <a:rPr lang="en" altLang="zh-CN" sz="3500" b="1" dirty="0">
                <a:latin typeface="Comic Sans MS" panose="030F0902030302020204" pitchFamily="66" charset="0"/>
                <a:ea typeface="Vollkorn"/>
              </a:rPr>
              <a:t>Average Energy (RMS): </a:t>
            </a:r>
            <a:r>
              <a:rPr lang="en-US" altLang="zh-CN" sz="3500" b="1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0.1025 (+0.0945)</a:t>
            </a:r>
            <a:endParaRPr lang="en" altLang="zh-CN" sz="3500" b="1" dirty="0">
              <a:solidFill>
                <a:srgbClr val="C00000"/>
              </a:solidFill>
              <a:latin typeface="Comic Sans MS" panose="030F0902030302020204" pitchFamily="66" charset="0"/>
              <a:ea typeface="Vollkorn"/>
            </a:endParaRPr>
          </a:p>
          <a:p>
            <a:pPr algn="just" defTabSz="2286858"/>
            <a:r>
              <a:rPr lang="en" altLang="zh-CN" sz="3500" b="1" dirty="0">
                <a:latin typeface="Comic Sans MS" panose="030F0902030302020204" pitchFamily="66" charset="0"/>
                <a:ea typeface="Vollkorn"/>
              </a:rPr>
              <a:t>Average Spectral Centroid: </a:t>
            </a:r>
            <a:r>
              <a:rPr lang="en" altLang="zh-CN" sz="3500" b="1" dirty="0">
                <a:solidFill>
                  <a:srgbClr val="C00000"/>
                </a:solidFill>
                <a:latin typeface="Comic Sans MS" panose="030F0902030302020204" pitchFamily="66" charset="0"/>
                <a:ea typeface="Vollkorn"/>
              </a:rPr>
              <a:t>3175 (+1290)</a:t>
            </a:r>
          </a:p>
        </p:txBody>
      </p:sp>
      <p:pic>
        <p:nvPicPr>
          <p:cNvPr id="73" name="图片 72" descr="图形用户界面&#10;&#10;AI 生成的内容可能不正确。">
            <a:extLst>
              <a:ext uri="{FF2B5EF4-FFF2-40B4-BE49-F238E27FC236}">
                <a16:creationId xmlns:a16="http://schemas.microsoft.com/office/drawing/2014/main" id="{DB83C877-BFAC-ADFF-FBD3-88704C4F0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363" y="16742873"/>
            <a:ext cx="720096" cy="72009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0089BCE2-889E-35A5-9F26-7BBE7D1EC9D2}"/>
              </a:ext>
            </a:extLst>
          </p:cNvPr>
          <p:cNvSpPr txBox="1"/>
          <p:nvPr/>
        </p:nvSpPr>
        <p:spPr>
          <a:xfrm>
            <a:off x="439484" y="16676484"/>
            <a:ext cx="93836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Emotion recognition</a:t>
            </a:r>
            <a:r>
              <a:rPr lang="zh-CN" altLang="en-US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result</a:t>
            </a:r>
            <a:r>
              <a:rPr kumimoji="1" lang="en-US" altLang="zh-CN" sz="4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mic Sans MS" panose="030F0902030302020204" pitchFamily="66" charset="0"/>
              </a:rPr>
              <a:t>: </a:t>
            </a:r>
            <a:r>
              <a:rPr kumimoji="1" lang="en-US" altLang="zh-CN" sz="4500" b="1" dirty="0">
                <a:solidFill>
                  <a:srgbClr val="C00000"/>
                </a:solidFill>
                <a:latin typeface="Comic Sans MS" panose="030F0902030302020204" pitchFamily="66" charset="0"/>
              </a:rPr>
              <a:t>angry</a:t>
            </a:r>
            <a:endParaRPr kumimoji="1" lang="zh-CN" altLang="en-US" sz="4500" b="1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85899CD2-5379-4FF8-A4CF-576E79462135}"/>
              </a:ext>
            </a:extLst>
          </p:cNvPr>
          <p:cNvCxnSpPr>
            <a:cxnSpLocks/>
          </p:cNvCxnSpPr>
          <p:nvPr/>
        </p:nvCxnSpPr>
        <p:spPr>
          <a:xfrm>
            <a:off x="9922961" y="289202"/>
            <a:ext cx="0" cy="281886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0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3203</TotalTime>
  <Words>346</Words>
  <Application>Microsoft Macintosh PowerPoint</Application>
  <PresentationFormat>自定义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86</cp:revision>
  <dcterms:created xsi:type="dcterms:W3CDTF">2025-11-29T13:01:17Z</dcterms:created>
  <dcterms:modified xsi:type="dcterms:W3CDTF">2026-01-06T10:04:27Z</dcterms:modified>
</cp:coreProperties>
</file>